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embeddedFontLst>
    <p:embeddedFont>
      <p:font typeface="Raleway ExtraBold"/>
      <p:regular r:id="rId201314"/>
    </p:embeddedFont>
    <p:embeddedFont>
      <p:font typeface="Raleway Medium"/>
      <p:regular r:id="rId201315"/>
    </p:embeddedFont>
    <p:embeddedFont>
      <p:font typeface="Raleway SemiBold"/>
      <p:regular r:id="rId201316"/>
    </p:embeddedFont>
    <p:embeddedFont>
      <p:font typeface="Raleway Bold"/>
      <p:regular r:id="rId201317"/>
    </p:embeddedFont>
    <p:embeddedFont>
      <p:font typeface="Raleway Black"/>
      <p:regular r:id="rId201318"/>
    </p:embeddedFont>
    <p:embeddedFont>
      <p:font typeface="Raleway Thin"/>
      <p:regular r:id="rId201319"/>
    </p:embeddedFont>
    <p:embeddedFont>
      <p:font typeface="Raleway ExtraLight"/>
      <p:regular r:id="rId201320"/>
    </p:embeddedFont>
    <p:embeddedFont>
      <p:font typeface="Raleway Light"/>
      <p:regular r:id="rId201321"/>
    </p:embeddedFont>
    <p:embeddedFont>
      <p:font typeface="Raleway"/>
      <p:regular r:id="rId201322"/>
    </p:embeddedFont>
    <p:embeddedFont>
      <p:font typeface="Roboto Light"/>
      <p:regular r:id="rId201323"/>
    </p:embeddedFont>
    <p:embeddedFont>
      <p:font typeface="Roboto"/>
      <p:regular r:id="rId201324"/>
    </p:embeddedFont>
    <p:embeddedFont>
      <p:font typeface="Roboto Thin"/>
      <p:regular r:id="rId201325"/>
    </p:embeddedFont>
    <p:embeddedFont>
      <p:font typeface="Roboto ExtraLight"/>
      <p:regular r:id="rId201326"/>
    </p:embeddedFont>
    <p:embeddedFont>
      <p:font typeface="Roboto Medium"/>
      <p:regular r:id="rId201327"/>
    </p:embeddedFont>
    <p:embeddedFont>
      <p:font typeface="Roboto SemiBold"/>
      <p:regular r:id="rId201328"/>
    </p:embeddedFont>
    <p:embeddedFont>
      <p:font typeface="Roboto Bold"/>
      <p:regular r:id="rId201329"/>
    </p:embeddedFont>
    <p:embeddedFont>
      <p:font typeface="Roboto ExtraBold"/>
      <p:regular r:id="rId201330"/>
    </p:embeddedFont>
    <p:embeddedFont>
      <p:font typeface="Roboto Black"/>
      <p:regular r:id="rId2013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Relationship Id="rId201335" Target="fonts/20133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2.png"/><Relationship Id="rId5" Type="http://schemas.openxmlformats.org/officeDocument/2006/relationships/image" Target="../media/image-6-3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Documentación de Sistemas: Etapas y Manuales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25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recorrido por las cinco etapas del proceso de documentación y los tipos de manuales que lo integran.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5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56879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 Recolección de información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2667372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 la etapa inicial en la que se obtiene toda la información necesaria sobre el sistema. Se recopilan requisitos, procesos, datos, manuales existentes y opiniones de los usuarios y del personal técnico. El objetivo es comprender cómo funciona el sistema y qué información debe documentarse.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257598"/>
            <a:ext cx="2628230" cy="26282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74988" y="1769046"/>
            <a:ext cx="517758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Análisis de la información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474988" y="2353791"/>
            <a:ext cx="5177582" cy="1034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Consiste en revisar y organizar toda la información recopilada. Se identifican procesos, relaciones entre datos, posibles errores y aspectos importantes que deben quedar reflejados en la documentación.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 esta fase se decide qué información es relevante y cómo se presentará.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0843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 Redacción de la documentación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134939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7658" y="2134939"/>
            <a:ext cx="20675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Manuales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27658" y="2441451"/>
            <a:ext cx="206759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crean manuales de usuario y manuales técnicos adaptados al público destinatario.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2134939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03972" y="2134939"/>
            <a:ext cx="20675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Diccionarios de datos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803972" y="2441451"/>
            <a:ext cx="206759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elaboran diccionarios de datos que describen la estructura y el significado de cada campo del sistema.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2134939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580287" y="2134939"/>
            <a:ext cx="20675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Diagramas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580287" y="2441451"/>
            <a:ext cx="206759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incluyen diagramas y cualquier otro documento necesario para representar el funcionamiento del sistema.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496119" y="3508177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lenguaje debe ser preciso y adaptado al público al que va dirigido.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832818"/>
            <a:ext cx="517758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 Validación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417564"/>
            <a:ext cx="517758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documentación se revisa para comprobar que sea correcta, completa y fácil de entender. Los usuarios, desarrolladores o responsables del sistema verifican que la información refleje el funcionamiento real del sistema y realizan correcciones si es necesario.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4339" y="1257598"/>
            <a:ext cx="2628230" cy="26282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557957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 Mantenimiento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25119" y="1213545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documentación debe actualizarse cada vez que el sistema cambie o se agreguen nuevas funciones. Mantenerla al día garantiza que siga siendo útil para los usuarios y el personal técnico, evitando errores y facilitando futuras mejoras.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2280270"/>
            <a:ext cx="4722763" cy="108175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62127" y="2441079"/>
            <a:ext cx="43249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Actualización continua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162127" y="2747590"/>
            <a:ext cx="43249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Cada cambio en el sistema debe reflejarse en la documentación de forma oportuna.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3503786"/>
            <a:ext cx="4722763" cy="108175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162127" y="3664595"/>
            <a:ext cx="43249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Utilidad sostenida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162127" y="3971106"/>
            <a:ext cx="43249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Una documentación vigente evita errores y facilita el trabajo del equipo técnico y de los usuarios.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07132"/>
            <a:ext cx="8151763" cy="7614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Cuadro comparativo: Manual Técnico vs. Manual de Usuario</a:t>
            </a:r>
            <a:endParaRPr lang="en-US" sz="2350" dirty="0"/>
          </a:p>
        </p:txBody>
      </p:sp>
      <p:sp>
        <p:nvSpPr>
          <p:cNvPr id="3" name="Shape 1"/>
          <p:cNvSpPr/>
          <p:nvPr/>
        </p:nvSpPr>
        <p:spPr>
          <a:xfrm>
            <a:off x="496119" y="1477863"/>
            <a:ext cx="8151763" cy="3158430"/>
          </a:xfrm>
          <a:prstGeom prst="roundRect">
            <a:avLst>
              <a:gd name="adj" fmla="val 1620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6119" y="1801341"/>
            <a:ext cx="8151763" cy="76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96119" y="2303636"/>
            <a:ext cx="8151763" cy="76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2805931"/>
            <a:ext cx="8151763" cy="76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3308226"/>
            <a:ext cx="8151763" cy="76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3629323"/>
            <a:ext cx="8151763" cy="76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6119" y="4131618"/>
            <a:ext cx="8151763" cy="76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00955" y="1482626"/>
            <a:ext cx="1628403" cy="318715"/>
          </a:xfrm>
          <a:custGeom>
            <a:avLst/>
            <a:gdLst/>
            <a:ahLst/>
            <a:cxnLst/>
            <a:rect l="l" t="t" r="r" b="b"/>
            <a:pathLst>
              <a:path w="1628403" h="318715">
                <a:moveTo>
                  <a:pt x="42641" y="0"/>
                </a:moveTo>
                <a:lnTo>
                  <a:pt x="1628403" y="0"/>
                </a:lnTo>
                <a:lnTo>
                  <a:pt x="1628403" y="318715"/>
                </a:lnTo>
                <a:lnTo>
                  <a:pt x="0" y="318715"/>
                </a:lnTo>
                <a:lnTo>
                  <a:pt x="0" y="42641"/>
                </a:lnTo>
                <a:arcTo hR="42641" wR="42641" stAng="10800000" swAng="5400000"/>
                <a:close/>
              </a:path>
            </a:pathLst>
          </a:custGeom>
          <a:solidFill>
            <a:srgbClr val="1B1B27"/>
          </a:solidFill>
          <a:ln/>
        </p:spPr>
      </p:sp>
      <p:sp>
        <p:nvSpPr>
          <p:cNvPr id="11" name="Text 9"/>
          <p:cNvSpPr/>
          <p:nvPr/>
        </p:nvSpPr>
        <p:spPr>
          <a:xfrm>
            <a:off x="622771" y="1550194"/>
            <a:ext cx="1841971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Aspecto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129358" y="1482626"/>
            <a:ext cx="3256880" cy="318715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3" name="Text 11"/>
          <p:cNvSpPr/>
          <p:nvPr/>
        </p:nvSpPr>
        <p:spPr>
          <a:xfrm>
            <a:off x="2251174" y="1550194"/>
            <a:ext cx="3470449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Manual Técnico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386239" y="1482626"/>
            <a:ext cx="3256880" cy="318715"/>
          </a:xfrm>
          <a:custGeom>
            <a:avLst/>
            <a:gdLst/>
            <a:ahLst/>
            <a:cxnLst/>
            <a:rect l="l" t="t" r="r" b="b"/>
            <a:pathLst>
              <a:path w="3256880" h="318715">
                <a:moveTo>
                  <a:pt x="0" y="0"/>
                </a:moveTo>
                <a:lnTo>
                  <a:pt x="3214239" y="0"/>
                </a:lnTo>
                <a:arcTo hR="42641" wR="42641" stAng="16200000" swAng="5400000"/>
                <a:lnTo>
                  <a:pt x="3256880" y="318715"/>
                </a:lnTo>
                <a:lnTo>
                  <a:pt x="0" y="318715"/>
                </a:lnTo>
                <a:lnTo>
                  <a:pt x="0" y="0"/>
                </a:lnTo>
                <a:close/>
              </a:path>
            </a:pathLst>
          </a:custGeom>
          <a:solidFill>
            <a:srgbClr val="1B1B27"/>
          </a:solidFill>
          <a:ln/>
        </p:spPr>
      </p:sp>
      <p:sp>
        <p:nvSpPr>
          <p:cNvPr id="15" name="Text 13"/>
          <p:cNvSpPr/>
          <p:nvPr/>
        </p:nvSpPr>
        <p:spPr>
          <a:xfrm>
            <a:off x="5508054" y="1550194"/>
            <a:ext cx="3470449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Manual de Usuario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2771" y="1871290"/>
            <a:ext cx="1841971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Objetivo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251174" y="1871290"/>
            <a:ext cx="3013249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Explicar el funcionamiento interno del sistema y servir de apoyo para su mantenimiento y desarrollo.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508054" y="1871290"/>
            <a:ext cx="3013249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Enseñar al usuario cómo utilizar el sistema de forma correcta.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2771" y="2373585"/>
            <a:ext cx="1841971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Dirigido a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51174" y="2373585"/>
            <a:ext cx="3013249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Programadores, desarrolladores, administradores de sistemas y personal de soporte.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508054" y="2373585"/>
            <a:ext cx="3470449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Usuarios finales del sistema.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2771" y="2875880"/>
            <a:ext cx="1841971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Contenido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251174" y="2875880"/>
            <a:ext cx="3013249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Arquitectura del sistema, base de datos, código, diagramas, configuración, instalación y mantenimiento.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508054" y="2875880"/>
            <a:ext cx="3013249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Instrucciones de uso, descripción de funciones, pasos para realizar tareas y solución de problemas comunes.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2771" y="3378175"/>
            <a:ext cx="1841971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Lenguaje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251174" y="3378175"/>
            <a:ext cx="3470449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Técnico y especializado.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508054" y="3378175"/>
            <a:ext cx="3470449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Claro, sencillo y fácil de entender.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2771" y="3699272"/>
            <a:ext cx="1841971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Propósito principal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251174" y="3699272"/>
            <a:ext cx="3013249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Facilitar el desarrollo, mantenimiento y actualización del sistema.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508054" y="3699272"/>
            <a:ext cx="3013249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Ayudar al usuario a utilizar el sistema de manera eficiente.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2771" y="4201567"/>
            <a:ext cx="1841971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Ejemplos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251174" y="4201567"/>
            <a:ext cx="3013249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Diccionario de datos, diagramas UML, estructura de la base de datos y documentación del código.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508054" y="4201567"/>
            <a:ext cx="3013249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Guías paso a paso, capturas de pantalla, preguntas frecuentes y tutoriales.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4424"/>
            <a:ext cx="8151763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Integración y conclusión</a:t>
            </a:r>
            <a:endParaRPr lang="en-US" sz="2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121098"/>
            <a:ext cx="5204073" cy="1377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97539" y="2586700"/>
            <a:ext cx="786647" cy="140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Recolección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897539" y="2767614"/>
            <a:ext cx="786647" cy="3009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3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Recopilar información del sistema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1798978" y="2650865"/>
            <a:ext cx="786647" cy="140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Análisis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798978" y="2831779"/>
            <a:ext cx="786647" cy="2006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3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Organizar y filtrar datos relevantes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2700417" y="2586700"/>
            <a:ext cx="786647" cy="140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Redacción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2700417" y="2767614"/>
            <a:ext cx="786647" cy="2006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3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Crear contenido técnico claro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3601857" y="2650865"/>
            <a:ext cx="786647" cy="140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Validación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601857" y="2831779"/>
            <a:ext cx="786647" cy="2006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3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Revisar precisión con expertos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4508304" y="2586700"/>
            <a:ext cx="786647" cy="140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Mantenimiento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508304" y="2767614"/>
            <a:ext cx="786647" cy="2006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3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Actualizar y gestionar versiones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5975077" y="1068139"/>
            <a:ext cx="2677492" cy="23663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 cinco etapas de la documentación están estrechamente relacionadas con la elaboración de los manuales técnicos y de usuario. Primero, en la recolección se obtiene toda la información necesaria sobre el sistema. Luego, durante el análisis, esa información se organiza y se identifica qué debe incluirse en cada manual. En la etapa de redacción, se elaboran los documentos utilizando un lenguaje adecuado según el público al que van dirigidos: técnico para los desarrolladores y sencillo para los usuarios. Después, en la validación, se revisa que la información sea correcta, completa y comprensible. Finalmente, el mantenimiento garantiza que ambos manuales permanezcan actualizados cada vez que el sistema cambia o incorpora nuevas funciones.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975077" y="3531840"/>
            <a:ext cx="2677492" cy="999827"/>
          </a:xfrm>
          <a:prstGeom prst="roundRect">
            <a:avLst>
              <a:gd name="adj" fmla="val 4653"/>
            </a:avLst>
          </a:prstGeom>
          <a:solidFill>
            <a:srgbClr val="E1E1EA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5805" y="3687663"/>
            <a:ext cx="138410" cy="11072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334944" y="3637359"/>
            <a:ext cx="2206898" cy="7887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Manual Técnico y el Manual de Usuario son documentos complementarios que dependen de un proceso de documentación bien organizado para asegurar información precisa, útil y actualizada.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2026-07-29T13:47:19Z</dcterms:created>
  <dcterms:modified xsi:type="dcterms:W3CDTF">2026-07-29T13:47:19Z</dcterms:modified>
</cp:coreProperties>
</file>